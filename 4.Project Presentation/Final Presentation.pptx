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264" r:id="rId3"/>
    <p:sldId id="266" r:id="rId4"/>
    <p:sldId id="257" r:id="rId5"/>
    <p:sldId id="258" r:id="rId6"/>
    <p:sldId id="260" r:id="rId7"/>
    <p:sldId id="261" r:id="rId8"/>
    <p:sldId id="259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9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thumekanxusani\Downloads\Bright_Coffee_Shop_CaseStud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thumekanxusani\Downloads\Bright_Coffee_Shop_CaseStud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thumekanxusani\Downloads\Bright_Coffee_Shop_CaseStud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thumekanxusani\Downloads\Bright_Coffee_Shop_CaseStud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thumekanxusani\Downloads\Bright_Coffee_Shop_CaseStudy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thumekanxusani\Downloads\Bright_Coffee_Shop_CaseStud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[Bright_Coffee_Shop_CaseStudy.xlsx]Sheet1!PivotTable1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</a:t>
            </a:r>
            <a:r>
              <a:rPr lang="en-US" baseline="0"/>
              <a:t> by Month Per Store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  <a:effectLst/>
          </c:spPr>
          <c:invertIfNegative val="0"/>
          <c:cat>
            <c:strRef>
              <c:f>Sheet1!$A$5:$A$11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Sheet1!$B$5:$B$11</c:f>
              <c:numCache>
                <c:formatCode>"R"#\ ##0</c:formatCode>
                <c:ptCount val="6"/>
                <c:pt idx="0">
                  <c:v>27313.660000000069</c:v>
                </c:pt>
                <c:pt idx="1">
                  <c:v>25105.340000000058</c:v>
                </c:pt>
                <c:pt idx="2">
                  <c:v>32835.430000000022</c:v>
                </c:pt>
                <c:pt idx="3">
                  <c:v>39477.610000000008</c:v>
                </c:pt>
                <c:pt idx="4">
                  <c:v>52428.759999999995</c:v>
                </c:pt>
                <c:pt idx="5">
                  <c:v>55083.109999999979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4E-B045-B3DF-E5EDC79E5A1C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Sheet1!$C$5:$C$11</c:f>
              <c:numCache>
                <c:formatCode>"R"#\ ##0</c:formatCode>
                <c:ptCount val="6"/>
                <c:pt idx="0">
                  <c:v>27820.650000000031</c:v>
                </c:pt>
                <c:pt idx="1">
                  <c:v>25719.800000000017</c:v>
                </c:pt>
                <c:pt idx="2">
                  <c:v>33110.569999999978</c:v>
                </c:pt>
                <c:pt idx="3">
                  <c:v>40304.14</c:v>
                </c:pt>
                <c:pt idx="4">
                  <c:v>52598.929999999906</c:v>
                </c:pt>
                <c:pt idx="5">
                  <c:v>56957.079999999922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4E-B045-B3DF-E5EDC79E5A1C}"/>
            </c:ext>
          </c:extLst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rgbClr val="00B0F0"/>
              </a:solidFill>
            </a:ln>
            <a:effectLst/>
          </c:spPr>
          <c:invertIfNegative val="0"/>
          <c:cat>
            <c:strRef>
              <c:f>Sheet1!$A$5:$A$11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Sheet1!$D$5:$D$11</c:f>
              <c:numCache>
                <c:formatCode>"R"#\ ##0</c:formatCode>
                <c:ptCount val="6"/>
                <c:pt idx="0">
                  <c:v>26543.43</c:v>
                </c:pt>
                <c:pt idx="1">
                  <c:v>25320.05000000001</c:v>
                </c:pt>
                <c:pt idx="2">
                  <c:v>32888.679999999986</c:v>
                </c:pt>
                <c:pt idx="3">
                  <c:v>39159.329999999965</c:v>
                </c:pt>
                <c:pt idx="4">
                  <c:v>51700.069999999942</c:v>
                </c:pt>
                <c:pt idx="5">
                  <c:v>54445.689999999908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4E-B045-B3DF-E5EDC79E5A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3887663"/>
        <c:axId val="1923879631"/>
      </c:barChart>
      <c:catAx>
        <c:axId val="1923887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3879631"/>
        <c:crosses val="autoZero"/>
        <c:auto val="1"/>
        <c:lblAlgn val="ctr"/>
        <c:lblOffset val="100"/>
        <c:noMultiLvlLbl val="0"/>
      </c:catAx>
      <c:valAx>
        <c:axId val="1923879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38876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[Bright_Coffee_Shop_CaseStudy.xlsx]Sheet1!PivotTable2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</a:t>
            </a:r>
            <a:r>
              <a:rPr lang="en-US" baseline="0"/>
              <a:t> Revenue by store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Sheet1!$B$15:$B$16</c:f>
              <c:strCache>
                <c:ptCount val="1"/>
                <c:pt idx="0">
                  <c:v>Astoria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Sheet1!$A$17:$A$47</c:f>
              <c:strCache>
                <c:ptCount val="30"/>
                <c:pt idx="0">
                  <c:v>2023/01/01</c:v>
                </c:pt>
                <c:pt idx="1">
                  <c:v>2023/01/02</c:v>
                </c:pt>
                <c:pt idx="2">
                  <c:v>2023/01/03</c:v>
                </c:pt>
                <c:pt idx="3">
                  <c:v>2023/01/04</c:v>
                </c:pt>
                <c:pt idx="4">
                  <c:v>2023/01/05</c:v>
                </c:pt>
                <c:pt idx="5">
                  <c:v>2023/01/06</c:v>
                </c:pt>
                <c:pt idx="6">
                  <c:v>2023/01/07</c:v>
                </c:pt>
                <c:pt idx="7">
                  <c:v>2023/01/09</c:v>
                </c:pt>
                <c:pt idx="8">
                  <c:v>2023/01/10</c:v>
                </c:pt>
                <c:pt idx="9">
                  <c:v>2023/01/11</c:v>
                </c:pt>
                <c:pt idx="10">
                  <c:v>2023/01/12</c:v>
                </c:pt>
                <c:pt idx="11">
                  <c:v>2023/01/13</c:v>
                </c:pt>
                <c:pt idx="12">
                  <c:v>2023/01/14</c:v>
                </c:pt>
                <c:pt idx="13">
                  <c:v>2023/01/15</c:v>
                </c:pt>
                <c:pt idx="14">
                  <c:v>2023/01/16</c:v>
                </c:pt>
                <c:pt idx="15">
                  <c:v>2023/01/17</c:v>
                </c:pt>
                <c:pt idx="16">
                  <c:v>2023/01/18</c:v>
                </c:pt>
                <c:pt idx="17">
                  <c:v>2023/01/19</c:v>
                </c:pt>
                <c:pt idx="18">
                  <c:v>2023/01/20</c:v>
                </c:pt>
                <c:pt idx="19">
                  <c:v>2023/01/21</c:v>
                </c:pt>
                <c:pt idx="20">
                  <c:v>2023/01/22</c:v>
                </c:pt>
                <c:pt idx="21">
                  <c:v>2023/01/23</c:v>
                </c:pt>
                <c:pt idx="22">
                  <c:v>2023/01/24</c:v>
                </c:pt>
                <c:pt idx="23">
                  <c:v>2023/01/25</c:v>
                </c:pt>
                <c:pt idx="24">
                  <c:v>2023/01/26</c:v>
                </c:pt>
                <c:pt idx="25">
                  <c:v>2023/01/27</c:v>
                </c:pt>
                <c:pt idx="26">
                  <c:v>2023/01/28</c:v>
                </c:pt>
                <c:pt idx="27">
                  <c:v>2023/01/29</c:v>
                </c:pt>
                <c:pt idx="28">
                  <c:v>2023/01/30</c:v>
                </c:pt>
                <c:pt idx="29">
                  <c:v>2023/01/31</c:v>
                </c:pt>
              </c:strCache>
            </c:strRef>
          </c:cat>
          <c:val>
            <c:numRef>
              <c:f>Sheet1!$B$17:$B$47</c:f>
              <c:numCache>
                <c:formatCode>"R"#\ ##0</c:formatCode>
                <c:ptCount val="30"/>
                <c:pt idx="0">
                  <c:v>868.40000000000009</c:v>
                </c:pt>
                <c:pt idx="1">
                  <c:v>925.5</c:v>
                </c:pt>
                <c:pt idx="2">
                  <c:v>902.75</c:v>
                </c:pt>
                <c:pt idx="3">
                  <c:v>808.25</c:v>
                </c:pt>
                <c:pt idx="4">
                  <c:v>903.05</c:v>
                </c:pt>
                <c:pt idx="5">
                  <c:v>716.05</c:v>
                </c:pt>
                <c:pt idx="6">
                  <c:v>807.3</c:v>
                </c:pt>
                <c:pt idx="7">
                  <c:v>774.01000000000022</c:v>
                </c:pt>
                <c:pt idx="8">
                  <c:v>947.00000000000011</c:v>
                </c:pt>
                <c:pt idx="9">
                  <c:v>740.1500000000002</c:v>
                </c:pt>
                <c:pt idx="10">
                  <c:v>660.69999999999993</c:v>
                </c:pt>
                <c:pt idx="11">
                  <c:v>705.80000000000007</c:v>
                </c:pt>
                <c:pt idx="12">
                  <c:v>763.70000000000016</c:v>
                </c:pt>
                <c:pt idx="13">
                  <c:v>1348.93</c:v>
                </c:pt>
                <c:pt idx="14">
                  <c:v>1027.3300000000004</c:v>
                </c:pt>
                <c:pt idx="15">
                  <c:v>1075.4000000000001</c:v>
                </c:pt>
                <c:pt idx="16">
                  <c:v>1064.0300000000004</c:v>
                </c:pt>
                <c:pt idx="17">
                  <c:v>1079.3800000000001</c:v>
                </c:pt>
                <c:pt idx="18">
                  <c:v>871.43000000000018</c:v>
                </c:pt>
                <c:pt idx="19">
                  <c:v>992.35000000000014</c:v>
                </c:pt>
                <c:pt idx="20">
                  <c:v>742.80000000000018</c:v>
                </c:pt>
                <c:pt idx="21">
                  <c:v>928.3</c:v>
                </c:pt>
                <c:pt idx="22">
                  <c:v>922.05</c:v>
                </c:pt>
                <c:pt idx="23">
                  <c:v>942.00000000000023</c:v>
                </c:pt>
                <c:pt idx="24">
                  <c:v>939.24999999999989</c:v>
                </c:pt>
                <c:pt idx="25">
                  <c:v>838.55000000000018</c:v>
                </c:pt>
                <c:pt idx="26">
                  <c:v>733.25</c:v>
                </c:pt>
                <c:pt idx="27">
                  <c:v>820.70000000000016</c:v>
                </c:pt>
                <c:pt idx="28">
                  <c:v>870.6</c:v>
                </c:pt>
                <c:pt idx="29">
                  <c:v>801.5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E5-DB4D-9008-2570517C2910}"/>
            </c:ext>
          </c:extLst>
        </c:ser>
        <c:ser>
          <c:idx val="1"/>
          <c:order val="1"/>
          <c:tx>
            <c:strRef>
              <c:f>Sheet1!$C$15:$C$16</c:f>
              <c:strCache>
                <c:ptCount val="1"/>
                <c:pt idx="0">
                  <c:v>Hell's Kitchen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Sheet1!$A$17:$A$47</c:f>
              <c:strCache>
                <c:ptCount val="30"/>
                <c:pt idx="0">
                  <c:v>2023/01/01</c:v>
                </c:pt>
                <c:pt idx="1">
                  <c:v>2023/01/02</c:v>
                </c:pt>
                <c:pt idx="2">
                  <c:v>2023/01/03</c:v>
                </c:pt>
                <c:pt idx="3">
                  <c:v>2023/01/04</c:v>
                </c:pt>
                <c:pt idx="4">
                  <c:v>2023/01/05</c:v>
                </c:pt>
                <c:pt idx="5">
                  <c:v>2023/01/06</c:v>
                </c:pt>
                <c:pt idx="6">
                  <c:v>2023/01/07</c:v>
                </c:pt>
                <c:pt idx="7">
                  <c:v>2023/01/09</c:v>
                </c:pt>
                <c:pt idx="8">
                  <c:v>2023/01/10</c:v>
                </c:pt>
                <c:pt idx="9">
                  <c:v>2023/01/11</c:v>
                </c:pt>
                <c:pt idx="10">
                  <c:v>2023/01/12</c:v>
                </c:pt>
                <c:pt idx="11">
                  <c:v>2023/01/13</c:v>
                </c:pt>
                <c:pt idx="12">
                  <c:v>2023/01/14</c:v>
                </c:pt>
                <c:pt idx="13">
                  <c:v>2023/01/15</c:v>
                </c:pt>
                <c:pt idx="14">
                  <c:v>2023/01/16</c:v>
                </c:pt>
                <c:pt idx="15">
                  <c:v>2023/01/17</c:v>
                </c:pt>
                <c:pt idx="16">
                  <c:v>2023/01/18</c:v>
                </c:pt>
                <c:pt idx="17">
                  <c:v>2023/01/19</c:v>
                </c:pt>
                <c:pt idx="18">
                  <c:v>2023/01/20</c:v>
                </c:pt>
                <c:pt idx="19">
                  <c:v>2023/01/21</c:v>
                </c:pt>
                <c:pt idx="20">
                  <c:v>2023/01/22</c:v>
                </c:pt>
                <c:pt idx="21">
                  <c:v>2023/01/23</c:v>
                </c:pt>
                <c:pt idx="22">
                  <c:v>2023/01/24</c:v>
                </c:pt>
                <c:pt idx="23">
                  <c:v>2023/01/25</c:v>
                </c:pt>
                <c:pt idx="24">
                  <c:v>2023/01/26</c:v>
                </c:pt>
                <c:pt idx="25">
                  <c:v>2023/01/27</c:v>
                </c:pt>
                <c:pt idx="26">
                  <c:v>2023/01/28</c:v>
                </c:pt>
                <c:pt idx="27">
                  <c:v>2023/01/29</c:v>
                </c:pt>
                <c:pt idx="28">
                  <c:v>2023/01/30</c:v>
                </c:pt>
                <c:pt idx="29">
                  <c:v>2023/01/31</c:v>
                </c:pt>
              </c:strCache>
            </c:strRef>
          </c:cat>
          <c:val>
            <c:numRef>
              <c:f>Sheet1!$C$17:$C$47</c:f>
              <c:numCache>
                <c:formatCode>"R"#\ ##0</c:formatCode>
                <c:ptCount val="30"/>
                <c:pt idx="0">
                  <c:v>851.45000000000016</c:v>
                </c:pt>
                <c:pt idx="1">
                  <c:v>828.80000000000007</c:v>
                </c:pt>
                <c:pt idx="2">
                  <c:v>906.25000000000023</c:v>
                </c:pt>
                <c:pt idx="3">
                  <c:v>781.65000000000009</c:v>
                </c:pt>
                <c:pt idx="4">
                  <c:v>714.9</c:v>
                </c:pt>
                <c:pt idx="5">
                  <c:v>767.20000000000016</c:v>
                </c:pt>
                <c:pt idx="6">
                  <c:v>1024.0999999999999</c:v>
                </c:pt>
                <c:pt idx="7">
                  <c:v>894.40000000000009</c:v>
                </c:pt>
                <c:pt idx="8">
                  <c:v>808.09999999999991</c:v>
                </c:pt>
                <c:pt idx="9">
                  <c:v>974.55000000000018</c:v>
                </c:pt>
                <c:pt idx="10">
                  <c:v>751.9000000000002</c:v>
                </c:pt>
                <c:pt idx="11">
                  <c:v>1362.6000000000004</c:v>
                </c:pt>
                <c:pt idx="12">
                  <c:v>1143.81</c:v>
                </c:pt>
                <c:pt idx="13">
                  <c:v>962.43000000000018</c:v>
                </c:pt>
                <c:pt idx="14">
                  <c:v>951.1500000000002</c:v>
                </c:pt>
                <c:pt idx="15">
                  <c:v>1421.5</c:v>
                </c:pt>
                <c:pt idx="16">
                  <c:v>846.10000000000025</c:v>
                </c:pt>
                <c:pt idx="17">
                  <c:v>1046.25</c:v>
                </c:pt>
                <c:pt idx="18">
                  <c:v>940.74999999999989</c:v>
                </c:pt>
                <c:pt idx="19">
                  <c:v>1075.5000000000002</c:v>
                </c:pt>
                <c:pt idx="20">
                  <c:v>621.45000000000016</c:v>
                </c:pt>
                <c:pt idx="21">
                  <c:v>1026.1000000000004</c:v>
                </c:pt>
                <c:pt idx="22">
                  <c:v>841.09999999999991</c:v>
                </c:pt>
                <c:pt idx="23">
                  <c:v>840.70000000000016</c:v>
                </c:pt>
                <c:pt idx="24">
                  <c:v>856.43000000000018</c:v>
                </c:pt>
                <c:pt idx="25">
                  <c:v>760.05000000000007</c:v>
                </c:pt>
                <c:pt idx="26">
                  <c:v>699.65</c:v>
                </c:pt>
                <c:pt idx="27">
                  <c:v>612.15</c:v>
                </c:pt>
                <c:pt idx="28">
                  <c:v>868.4</c:v>
                </c:pt>
                <c:pt idx="29">
                  <c:v>768.4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E5-DB4D-9008-2570517C2910}"/>
            </c:ext>
          </c:extLst>
        </c:ser>
        <c:ser>
          <c:idx val="2"/>
          <c:order val="2"/>
          <c:tx>
            <c:strRef>
              <c:f>Sheet1!$D$15:$D$16</c:f>
              <c:strCache>
                <c:ptCount val="1"/>
                <c:pt idx="0">
                  <c:v>Lower Manhattan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Sheet1!$A$17:$A$47</c:f>
              <c:strCache>
                <c:ptCount val="30"/>
                <c:pt idx="0">
                  <c:v>2023/01/01</c:v>
                </c:pt>
                <c:pt idx="1">
                  <c:v>2023/01/02</c:v>
                </c:pt>
                <c:pt idx="2">
                  <c:v>2023/01/03</c:v>
                </c:pt>
                <c:pt idx="3">
                  <c:v>2023/01/04</c:v>
                </c:pt>
                <c:pt idx="4">
                  <c:v>2023/01/05</c:v>
                </c:pt>
                <c:pt idx="5">
                  <c:v>2023/01/06</c:v>
                </c:pt>
                <c:pt idx="6">
                  <c:v>2023/01/07</c:v>
                </c:pt>
                <c:pt idx="7">
                  <c:v>2023/01/09</c:v>
                </c:pt>
                <c:pt idx="8">
                  <c:v>2023/01/10</c:v>
                </c:pt>
                <c:pt idx="9">
                  <c:v>2023/01/11</c:v>
                </c:pt>
                <c:pt idx="10">
                  <c:v>2023/01/12</c:v>
                </c:pt>
                <c:pt idx="11">
                  <c:v>2023/01/13</c:v>
                </c:pt>
                <c:pt idx="12">
                  <c:v>2023/01/14</c:v>
                </c:pt>
                <c:pt idx="13">
                  <c:v>2023/01/15</c:v>
                </c:pt>
                <c:pt idx="14">
                  <c:v>2023/01/16</c:v>
                </c:pt>
                <c:pt idx="15">
                  <c:v>2023/01/17</c:v>
                </c:pt>
                <c:pt idx="16">
                  <c:v>2023/01/18</c:v>
                </c:pt>
                <c:pt idx="17">
                  <c:v>2023/01/19</c:v>
                </c:pt>
                <c:pt idx="18">
                  <c:v>2023/01/20</c:v>
                </c:pt>
                <c:pt idx="19">
                  <c:v>2023/01/21</c:v>
                </c:pt>
                <c:pt idx="20">
                  <c:v>2023/01/22</c:v>
                </c:pt>
                <c:pt idx="21">
                  <c:v>2023/01/23</c:v>
                </c:pt>
                <c:pt idx="22">
                  <c:v>2023/01/24</c:v>
                </c:pt>
                <c:pt idx="23">
                  <c:v>2023/01/25</c:v>
                </c:pt>
                <c:pt idx="24">
                  <c:v>2023/01/26</c:v>
                </c:pt>
                <c:pt idx="25">
                  <c:v>2023/01/27</c:v>
                </c:pt>
                <c:pt idx="26">
                  <c:v>2023/01/28</c:v>
                </c:pt>
                <c:pt idx="27">
                  <c:v>2023/01/29</c:v>
                </c:pt>
                <c:pt idx="28">
                  <c:v>2023/01/30</c:v>
                </c:pt>
                <c:pt idx="29">
                  <c:v>2023/01/31</c:v>
                </c:pt>
              </c:strCache>
            </c:strRef>
          </c:cat>
          <c:val>
            <c:numRef>
              <c:f>Sheet1!$D$17:$D$47</c:f>
              <c:numCache>
                <c:formatCode>"R"#\ ##0</c:formatCode>
                <c:ptCount val="30"/>
                <c:pt idx="0">
                  <c:v>788.35</c:v>
                </c:pt>
                <c:pt idx="1">
                  <c:v>649.05000000000007</c:v>
                </c:pt>
                <c:pt idx="2">
                  <c:v>756</c:v>
                </c:pt>
                <c:pt idx="3">
                  <c:v>630.20000000000005</c:v>
                </c:pt>
                <c:pt idx="4">
                  <c:v>800.89999999999986</c:v>
                </c:pt>
                <c:pt idx="5">
                  <c:v>790.6</c:v>
                </c:pt>
                <c:pt idx="6">
                  <c:v>788.25</c:v>
                </c:pt>
                <c:pt idx="7">
                  <c:v>1008.2000000000002</c:v>
                </c:pt>
                <c:pt idx="8">
                  <c:v>930.55000000000007</c:v>
                </c:pt>
                <c:pt idx="9">
                  <c:v>841.04999999999984</c:v>
                </c:pt>
                <c:pt idx="10">
                  <c:v>915.10000000000014</c:v>
                </c:pt>
                <c:pt idx="11">
                  <c:v>965.20000000000027</c:v>
                </c:pt>
                <c:pt idx="12">
                  <c:v>775</c:v>
                </c:pt>
                <c:pt idx="13">
                  <c:v>856.35000000000014</c:v>
                </c:pt>
                <c:pt idx="14">
                  <c:v>850.68</c:v>
                </c:pt>
                <c:pt idx="15">
                  <c:v>788.9000000000002</c:v>
                </c:pt>
                <c:pt idx="16">
                  <c:v>825.83000000000027</c:v>
                </c:pt>
                <c:pt idx="17">
                  <c:v>788.05000000000007</c:v>
                </c:pt>
                <c:pt idx="18">
                  <c:v>791.55</c:v>
                </c:pt>
                <c:pt idx="19">
                  <c:v>1015</c:v>
                </c:pt>
                <c:pt idx="20">
                  <c:v>1003.0799999999999</c:v>
                </c:pt>
                <c:pt idx="21">
                  <c:v>898.75000000000023</c:v>
                </c:pt>
                <c:pt idx="22">
                  <c:v>1105.8000000000002</c:v>
                </c:pt>
                <c:pt idx="23">
                  <c:v>1063.8499999999999</c:v>
                </c:pt>
                <c:pt idx="24">
                  <c:v>1067.3499999999997</c:v>
                </c:pt>
                <c:pt idx="25">
                  <c:v>1143.4999999999998</c:v>
                </c:pt>
                <c:pt idx="26">
                  <c:v>604.20000000000005</c:v>
                </c:pt>
                <c:pt idx="27">
                  <c:v>627.9</c:v>
                </c:pt>
                <c:pt idx="28">
                  <c:v>737.41000000000008</c:v>
                </c:pt>
                <c:pt idx="29">
                  <c:v>764.23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E5-DB4D-9008-2570517C29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7890239"/>
        <c:axId val="1946510351"/>
      </c:lineChart>
      <c:catAx>
        <c:axId val="1947890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510351"/>
        <c:crosses val="autoZero"/>
        <c:auto val="1"/>
        <c:lblAlgn val="ctr"/>
        <c:lblOffset val="100"/>
        <c:noMultiLvlLbl val="0"/>
      </c:catAx>
      <c:valAx>
        <c:axId val="1946510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7890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[Bright_Coffee_Shop_CaseStudy.xlsx]Sheet1!PivotTable4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Revenue by time of day Per store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Sheet1!$B$63:$B$64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Sheet1!$A$65:$A$68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Sheet1!$B$65:$B$68</c:f>
              <c:numCache>
                <c:formatCode>"R"#\ ##0</c:formatCode>
                <c:ptCount val="3"/>
                <c:pt idx="0">
                  <c:v>104942.51999999971</c:v>
                </c:pt>
                <c:pt idx="1">
                  <c:v>78567.139999999868</c:v>
                </c:pt>
                <c:pt idx="2">
                  <c:v>48734.250000000022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8A-1A43-BB70-2910F577D2D8}"/>
            </c:ext>
          </c:extLst>
        </c:ser>
        <c:ser>
          <c:idx val="1"/>
          <c:order val="1"/>
          <c:tx>
            <c:strRef>
              <c:f>Sheet1!$C$63:$C$64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Sheet1!$A$65:$A$68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Sheet1!$C$65:$C$68</c:f>
              <c:numCache>
                <c:formatCode>"R"#\ ##0</c:formatCode>
                <c:ptCount val="3"/>
                <c:pt idx="0">
                  <c:v>139443.29999999955</c:v>
                </c:pt>
                <c:pt idx="1">
                  <c:v>59012.429999999818</c:v>
                </c:pt>
                <c:pt idx="2">
                  <c:v>38055.439999999922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8A-1A43-BB70-2910F577D2D8}"/>
            </c:ext>
          </c:extLst>
        </c:ser>
        <c:ser>
          <c:idx val="2"/>
          <c:order val="2"/>
          <c:tx>
            <c:strRef>
              <c:f>Sheet1!$D$63:$D$64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rgbClr val="00B0F0"/>
              </a:solidFill>
            </a:ln>
            <a:effectLst/>
          </c:spPr>
          <c:invertIfNegative val="0"/>
          <c:cat>
            <c:strRef>
              <c:f>Sheet1!$A$65:$A$68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Sheet1!$D$65:$D$68</c:f>
              <c:numCache>
                <c:formatCode>"R"#\ ##0</c:formatCode>
                <c:ptCount val="3"/>
                <c:pt idx="0">
                  <c:v>143902.85000000021</c:v>
                </c:pt>
                <c:pt idx="1">
                  <c:v>67141.259999999849</c:v>
                </c:pt>
                <c:pt idx="2">
                  <c:v>19013.140000000021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8A-1A43-BB70-2910F577D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5696175"/>
        <c:axId val="1965185903"/>
      </c:barChart>
      <c:catAx>
        <c:axId val="1965696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5185903"/>
        <c:crosses val="autoZero"/>
        <c:auto val="1"/>
        <c:lblAlgn val="ctr"/>
        <c:lblOffset val="100"/>
        <c:noMultiLvlLbl val="0"/>
      </c:catAx>
      <c:valAx>
        <c:axId val="196518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5696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[Bright_Coffee_Shop_CaseStudy.xlsx]Sheet1!PivotTable5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time  of day</a:t>
            </a:r>
          </a:p>
        </c:rich>
      </c:tx>
      <c:layout>
        <c:manualLayout>
          <c:xMode val="edge"/>
          <c:yMode val="edge"/>
          <c:x val="0.44868728626008858"/>
          <c:y val="1.64327267457507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Sheet1!$B$71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rgbClr val="00B050"/>
              </a:solidFill>
            </a:ln>
          </c:spPr>
          <c:dPt>
            <c:idx val="0"/>
            <c:bubble3D val="0"/>
            <c:spPr>
              <a:solidFill>
                <a:schemeClr val="accent4"/>
              </a:solidFill>
              <a:ln w="25400">
                <a:solidFill>
                  <a:srgbClr val="7030A0"/>
                </a:solidFill>
              </a:ln>
              <a:effectLst/>
              <a:sp3d contourW="25400">
                <a:contourClr>
                  <a:srgbClr val="7030A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1BF-9247-BA19-8C6D416E3E37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1BF-9247-BA19-8C6D416E3E37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1BF-9247-BA19-8C6D416E3E37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1BF-9247-BA19-8C6D416E3E3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1BF-9247-BA19-8C6D416E3E3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1BF-9247-BA19-8C6D416E3E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Sheet1!$A$72:$A$75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Sheet1!$B$72:$B$75</c:f>
              <c:numCache>
                <c:formatCode>0.00%</c:formatCode>
                <c:ptCount val="3"/>
                <c:pt idx="0">
                  <c:v>0.55564083993767055</c:v>
                </c:pt>
                <c:pt idx="1">
                  <c:v>0.29295537759043278</c:v>
                </c:pt>
                <c:pt idx="2">
                  <c:v>0.15140378247189665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BF-9247-BA19-8C6D416E3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[Bright_Coffee_Shop_CaseStudy.xlsx]Sheet1!PivotTable3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Product</a:t>
            </a:r>
          </a:p>
        </c:rich>
      </c:tx>
      <c:layout>
        <c:manualLayout>
          <c:xMode val="edge"/>
          <c:yMode val="edge"/>
          <c:x val="0.37132347905287566"/>
          <c:y val="5.477575581916927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Sheet1!$B$52:$B$53</c:f>
              <c:strCache>
                <c:ptCount val="1"/>
                <c:pt idx="0">
                  <c:v>Bakery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Sheet1!$B$54:$B$60</c:f>
              <c:numCache>
                <c:formatCode>"R"#\ ##0</c:formatCode>
                <c:ptCount val="6"/>
                <c:pt idx="0">
                  <c:v>9535.7499999999945</c:v>
                </c:pt>
                <c:pt idx="1">
                  <c:v>9038.8199999999979</c:v>
                </c:pt>
                <c:pt idx="2">
                  <c:v>11902.579999999994</c:v>
                </c:pt>
                <c:pt idx="3">
                  <c:v>14021.699999999993</c:v>
                </c:pt>
                <c:pt idx="4">
                  <c:v>18565.520000000011</c:v>
                </c:pt>
                <c:pt idx="5">
                  <c:v>19251.270000000004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B0-804B-83CF-1D99E66AF978}"/>
            </c:ext>
          </c:extLst>
        </c:ser>
        <c:ser>
          <c:idx val="1"/>
          <c:order val="1"/>
          <c:tx>
            <c:strRef>
              <c:f>Sheet1!$C$52:$C$53</c:f>
              <c:strCache>
                <c:ptCount val="1"/>
                <c:pt idx="0">
                  <c:v>Branded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Sheet1!$C$54:$C$60</c:f>
              <c:numCache>
                <c:formatCode>"R"#\ ##0</c:formatCode>
                <c:ptCount val="6"/>
                <c:pt idx="0">
                  <c:v>1890</c:v>
                </c:pt>
                <c:pt idx="1">
                  <c:v>1235</c:v>
                </c:pt>
                <c:pt idx="2">
                  <c:v>1801</c:v>
                </c:pt>
                <c:pt idx="3">
                  <c:v>2379</c:v>
                </c:pt>
                <c:pt idx="4">
                  <c:v>2889</c:v>
                </c:pt>
                <c:pt idx="5">
                  <c:v>3413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B0-804B-83CF-1D99E66AF978}"/>
            </c:ext>
          </c:extLst>
        </c:ser>
        <c:ser>
          <c:idx val="2"/>
          <c:order val="2"/>
          <c:tx>
            <c:strRef>
              <c:f>Sheet1!$D$52:$D$53</c:f>
              <c:strCache>
                <c:ptCount val="1"/>
                <c:pt idx="0">
                  <c:v>Coffee</c:v>
                </c:pt>
              </c:strCache>
            </c:strRef>
          </c:tx>
          <c:spPr>
            <a:ln w="28575" cap="rnd">
              <a:solidFill>
                <a:schemeClr val="accent1">
                  <a:shade val="72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Sheet1!$D$54:$D$60</c:f>
              <c:numCache>
                <c:formatCode>"R"#\ ##0</c:formatCode>
                <c:ptCount val="6"/>
                <c:pt idx="0">
                  <c:v>31256.850000000086</c:v>
                </c:pt>
                <c:pt idx="1">
                  <c:v>29268.950000000092</c:v>
                </c:pt>
                <c:pt idx="2">
                  <c:v>38303.599999999977</c:v>
                </c:pt>
                <c:pt idx="3">
                  <c:v>45971.200000000077</c:v>
                </c:pt>
                <c:pt idx="4">
                  <c:v>60362.849999999926</c:v>
                </c:pt>
                <c:pt idx="5">
                  <c:v>64788.999999999905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B0-804B-83CF-1D99E66AF978}"/>
            </c:ext>
          </c:extLst>
        </c:ser>
        <c:ser>
          <c:idx val="3"/>
          <c:order val="3"/>
          <c:tx>
            <c:strRef>
              <c:f>Sheet1!$E$52:$E$53</c:f>
              <c:strCache>
                <c:ptCount val="1"/>
                <c:pt idx="0">
                  <c:v>Coffee beans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Sheet1!$E$54:$E$60</c:f>
              <c:numCache>
                <c:formatCode>"R"#\ ##0</c:formatCode>
                <c:ptCount val="6"/>
                <c:pt idx="0">
                  <c:v>5245.2499999999982</c:v>
                </c:pt>
                <c:pt idx="1">
                  <c:v>4077.4999999999995</c:v>
                </c:pt>
                <c:pt idx="2">
                  <c:v>5256.199999999998</c:v>
                </c:pt>
                <c:pt idx="3">
                  <c:v>6824.6999999999971</c:v>
                </c:pt>
                <c:pt idx="4">
                  <c:v>8768.9499999999971</c:v>
                </c:pt>
                <c:pt idx="5">
                  <c:v>9912.649999999996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B0-804B-83CF-1D99E66AF978}"/>
            </c:ext>
          </c:extLst>
        </c:ser>
        <c:ser>
          <c:idx val="4"/>
          <c:order val="4"/>
          <c:tx>
            <c:strRef>
              <c:f>Sheet1!$F$52:$F$53</c:f>
              <c:strCache>
                <c:ptCount val="1"/>
                <c:pt idx="0">
                  <c:v>Drinking Chocolate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Sheet1!$F$54:$F$60</c:f>
              <c:numCache>
                <c:formatCode>"R"#\ ##0</c:formatCode>
                <c:ptCount val="6"/>
                <c:pt idx="0">
                  <c:v>8337.75</c:v>
                </c:pt>
                <c:pt idx="1">
                  <c:v>8132.25</c:v>
                </c:pt>
                <c:pt idx="2">
                  <c:v>10253.5</c:v>
                </c:pt>
                <c:pt idx="3">
                  <c:v>12266.75</c:v>
                </c:pt>
                <c:pt idx="4">
                  <c:v>16319.75</c:v>
                </c:pt>
                <c:pt idx="5">
                  <c:v>17106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AB0-804B-83CF-1D99E66AF978}"/>
            </c:ext>
          </c:extLst>
        </c:ser>
        <c:ser>
          <c:idx val="5"/>
          <c:order val="5"/>
          <c:tx>
            <c:strRef>
              <c:f>Sheet1!$G$52:$G$53</c:f>
              <c:strCache>
                <c:ptCount val="1"/>
                <c:pt idx="0">
                  <c:v>Flavours</c:v>
                </c:pt>
              </c:strCache>
            </c:strRef>
          </c:tx>
          <c:spPr>
            <a:ln w="28575" cap="rnd">
              <a:solidFill>
                <a:schemeClr val="accent1">
                  <a:tint val="86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Sheet1!$G$54:$G$60</c:f>
              <c:numCache>
                <c:formatCode>"R"#\ ##0</c:formatCode>
                <c:ptCount val="6"/>
                <c:pt idx="0">
                  <c:v>974.40000000000055</c:v>
                </c:pt>
                <c:pt idx="1">
                  <c:v>930.39999999999975</c:v>
                </c:pt>
                <c:pt idx="2">
                  <c:v>1171.9999999999982</c:v>
                </c:pt>
                <c:pt idx="3">
                  <c:v>1418.3999999999969</c:v>
                </c:pt>
                <c:pt idx="4">
                  <c:v>1905.5999999999947</c:v>
                </c:pt>
                <c:pt idx="5">
                  <c:v>2007.9999999999961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AB0-804B-83CF-1D99E66AF978}"/>
            </c:ext>
          </c:extLst>
        </c:ser>
        <c:ser>
          <c:idx val="6"/>
          <c:order val="6"/>
          <c:tx>
            <c:strRef>
              <c:f>Sheet1!$H$52:$H$53</c:f>
              <c:strCache>
                <c:ptCount val="1"/>
                <c:pt idx="0">
                  <c:v>Loose Tea</c:v>
                </c:pt>
              </c:strCache>
            </c:strRef>
          </c:tx>
          <c:spPr>
            <a:ln w="28575" cap="rnd">
              <a:solidFill>
                <a:srgbClr val="AAAAAA"/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Sheet1!$H$54:$H$60</c:f>
              <c:numCache>
                <c:formatCode>"R"#\ ##0</c:formatCode>
                <c:ptCount val="6"/>
                <c:pt idx="0">
                  <c:v>1293.8500000000022</c:v>
                </c:pt>
                <c:pt idx="1">
                  <c:v>1277.8500000000022</c:v>
                </c:pt>
                <c:pt idx="2">
                  <c:v>1646.9500000000032</c:v>
                </c:pt>
                <c:pt idx="3">
                  <c:v>1829.150000000004</c:v>
                </c:pt>
                <c:pt idx="4">
                  <c:v>2395.1500000000005</c:v>
                </c:pt>
                <c:pt idx="5">
                  <c:v>2770.6499999999978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AB0-804B-83CF-1D99E66AF978}"/>
            </c:ext>
          </c:extLst>
        </c:ser>
        <c:ser>
          <c:idx val="7"/>
          <c:order val="7"/>
          <c:tx>
            <c:strRef>
              <c:f>Sheet1!$I$52:$I$53</c:f>
              <c:strCache>
                <c:ptCount val="1"/>
                <c:pt idx="0">
                  <c:v>Packaged Chocolate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Sheet1!$I$54:$I$60</c:f>
              <c:numCache>
                <c:formatCode>"R"#\ ##0</c:formatCode>
                <c:ptCount val="6"/>
                <c:pt idx="0">
                  <c:v>521.94000000000005</c:v>
                </c:pt>
                <c:pt idx="1">
                  <c:v>451.0200000000001</c:v>
                </c:pt>
                <c:pt idx="2">
                  <c:v>588.20000000000005</c:v>
                </c:pt>
                <c:pt idx="3">
                  <c:v>873.23000000000059</c:v>
                </c:pt>
                <c:pt idx="4">
                  <c:v>981.09000000000094</c:v>
                </c:pt>
                <c:pt idx="5">
                  <c:v>992.16000000000099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AB0-804B-83CF-1D99E66AF978}"/>
            </c:ext>
          </c:extLst>
        </c:ser>
        <c:ser>
          <c:idx val="8"/>
          <c:order val="8"/>
          <c:tx>
            <c:strRef>
              <c:f>Sheet1!$J$52:$J$53</c:f>
              <c:strCache>
                <c:ptCount val="1"/>
                <c:pt idx="0">
                  <c:v>Tea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strRef>
              <c:f>Sheet1!$A$54:$A$60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Sheet1!$J$54:$J$60</c:f>
              <c:numCache>
                <c:formatCode>"R"#\ ##0</c:formatCode>
                <c:ptCount val="6"/>
                <c:pt idx="0">
                  <c:v>22621.949999999986</c:v>
                </c:pt>
                <c:pt idx="1">
                  <c:v>21733.40000000002</c:v>
                </c:pt>
                <c:pt idx="2">
                  <c:v>27910.649999999947</c:v>
                </c:pt>
                <c:pt idx="3">
                  <c:v>33356.949999999968</c:v>
                </c:pt>
                <c:pt idx="4">
                  <c:v>44539.849999999977</c:v>
                </c:pt>
                <c:pt idx="5">
                  <c:v>46243.149999999936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AB0-804B-83CF-1D99E66AF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7254751"/>
        <c:axId val="1917158447"/>
      </c:lineChart>
      <c:catAx>
        <c:axId val="1917254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158447"/>
        <c:crosses val="autoZero"/>
        <c:auto val="1"/>
        <c:lblAlgn val="ctr"/>
        <c:lblOffset val="100"/>
        <c:noMultiLvlLbl val="0"/>
      </c:catAx>
      <c:valAx>
        <c:axId val="1917158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254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[Bright_Coffee_Shop_CaseStudy.xlsx]Sheet1!PivotTable6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per product by Time</a:t>
            </a:r>
            <a:r>
              <a:rPr lang="en-US" baseline="0"/>
              <a:t> of Day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Sheet1!$B$77:$B$78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1">
                <a:shade val="4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Sheet1!$B$79:$B$82</c:f>
              <c:numCache>
                <c:formatCode>0.00%</c:formatCode>
                <c:ptCount val="3"/>
                <c:pt idx="0">
                  <c:v>7.4518778606809208E-2</c:v>
                </c:pt>
                <c:pt idx="1">
                  <c:v>5.5316947771020128E-2</c:v>
                </c:pt>
                <c:pt idx="2">
                  <c:v>3.5472443413380149E-2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AD-CA45-970D-796716752235}"/>
            </c:ext>
          </c:extLst>
        </c:ser>
        <c:ser>
          <c:idx val="1"/>
          <c:order val="1"/>
          <c:tx>
            <c:strRef>
              <c:f>Sheet1!$C$77:$C$78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Sheet1!$C$79:$C$82</c:f>
              <c:numCache>
                <c:formatCode>0.00%</c:formatCode>
                <c:ptCount val="3"/>
                <c:pt idx="0">
                  <c:v>4.953288607436203E-3</c:v>
                </c:pt>
                <c:pt idx="1">
                  <c:v>2.6804188350366795E-3</c:v>
                </c:pt>
                <c:pt idx="2">
                  <c:v>1.3480468994921313E-3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AD-CA45-970D-796716752235}"/>
            </c:ext>
          </c:extLst>
        </c:ser>
        <c:ser>
          <c:idx val="2"/>
          <c:order val="2"/>
          <c:tx>
            <c:strRef>
              <c:f>Sheet1!$D$77:$D$78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Sheet1!$D$79:$D$82</c:f>
              <c:numCache>
                <c:formatCode>0.00%</c:formatCode>
                <c:ptCount val="3"/>
                <c:pt idx="0">
                  <c:v>0.15463351934290551</c:v>
                </c:pt>
                <c:pt idx="1">
                  <c:v>0.12964762681045833</c:v>
                </c:pt>
                <c:pt idx="2">
                  <c:v>9.055426672518653E-2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AD-CA45-970D-796716752235}"/>
            </c:ext>
          </c:extLst>
        </c:ser>
        <c:ser>
          <c:idx val="3"/>
          <c:order val="3"/>
          <c:tx>
            <c:strRef>
              <c:f>Sheet1!$E$77:$E$78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Sheet1!$E$79:$E$82</c:f>
              <c:numCache>
                <c:formatCode>0.00%</c:formatCode>
                <c:ptCount val="3"/>
                <c:pt idx="0">
                  <c:v>1.518904006520785E-2</c:v>
                </c:pt>
                <c:pt idx="1">
                  <c:v>5.5019123456016049E-3</c:v>
                </c:pt>
                <c:pt idx="2">
                  <c:v>2.8841933663552575E-3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AD-CA45-970D-796716752235}"/>
            </c:ext>
          </c:extLst>
        </c:ser>
        <c:ser>
          <c:idx val="4"/>
          <c:order val="4"/>
          <c:tx>
            <c:strRef>
              <c:f>Sheet1!$F$77:$F$78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Sheet1!$F$79:$F$82</c:f>
              <c:numCache>
                <c:formatCode>0.00%</c:formatCode>
                <c:ptCount val="3"/>
                <c:pt idx="0">
                  <c:v>3.0409430058310864E-2</c:v>
                </c:pt>
                <c:pt idx="1">
                  <c:v>2.5659915982193242E-2</c:v>
                </c:pt>
                <c:pt idx="2">
                  <c:v>1.7305160198131546E-2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AD-CA45-970D-796716752235}"/>
            </c:ext>
          </c:extLst>
        </c:ser>
        <c:ser>
          <c:idx val="5"/>
          <c:order val="5"/>
          <c:tx>
            <c:strRef>
              <c:f>Sheet1!$G$77:$G$78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Sheet1!$G$79:$G$82</c:f>
              <c:numCache>
                <c:formatCode>0.00%</c:formatCode>
                <c:ptCount val="3"/>
                <c:pt idx="0">
                  <c:v>1.9342905511317322E-2</c:v>
                </c:pt>
                <c:pt idx="1">
                  <c:v>1.2665370869646999E-2</c:v>
                </c:pt>
                <c:pt idx="2">
                  <c:v>8.245031036428617E-3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AD-CA45-970D-796716752235}"/>
            </c:ext>
          </c:extLst>
        </c:ser>
        <c:ser>
          <c:idx val="6"/>
          <c:order val="6"/>
          <c:tx>
            <c:strRef>
              <c:f>Sheet1!$H$77:$H$78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Sheet1!$H$79:$H$82</c:f>
              <c:numCache>
                <c:formatCode>0.00%</c:formatCode>
                <c:ptCount val="3"/>
                <c:pt idx="0">
                  <c:v>1.0674650448303969E-2</c:v>
                </c:pt>
                <c:pt idx="1">
                  <c:v>3.8560411311053984E-3</c:v>
                </c:pt>
                <c:pt idx="2">
                  <c:v>2.2258448805567749E-3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AD-CA45-970D-796716752235}"/>
            </c:ext>
          </c:extLst>
        </c:ser>
        <c:ser>
          <c:idx val="7"/>
          <c:order val="7"/>
          <c:tx>
            <c:strRef>
              <c:f>Sheet1!$I$77:$I$78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Sheet1!$I$79:$I$82</c:f>
              <c:numCache>
                <c:formatCode>0.00%</c:formatCode>
                <c:ptCount val="3"/>
                <c:pt idx="0">
                  <c:v>4.4987146529562984E-3</c:v>
                </c:pt>
                <c:pt idx="1">
                  <c:v>1.5674963947582921E-3</c:v>
                </c:pt>
                <c:pt idx="2">
                  <c:v>9.2482287290739226E-4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AAD-CA45-970D-796716752235}"/>
            </c:ext>
          </c:extLst>
        </c:ser>
        <c:ser>
          <c:idx val="8"/>
          <c:order val="8"/>
          <c:tx>
            <c:strRef>
              <c:f>Sheet1!$J$77:$J$78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Sheet1!$A$79:$A$82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Sheet1!$J$79:$J$82</c:f>
              <c:numCache>
                <c:formatCode>0.00%</c:formatCode>
                <c:ptCount val="3"/>
                <c:pt idx="0">
                  <c:v>0.11988212427111418</c:v>
                </c:pt>
                <c:pt idx="1">
                  <c:v>9.9959245093736285E-2</c:v>
                </c:pt>
                <c:pt idx="2">
                  <c:v>7.0082763809643234E-2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AAD-CA45-970D-796716752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63539551"/>
        <c:axId val="1463779439"/>
      </c:barChart>
      <c:catAx>
        <c:axId val="1463539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779439"/>
        <c:crosses val="autoZero"/>
        <c:auto val="1"/>
        <c:lblAlgn val="ctr"/>
        <c:lblOffset val="100"/>
        <c:noMultiLvlLbl val="0"/>
      </c:catAx>
      <c:valAx>
        <c:axId val="1463779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539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90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87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94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870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28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71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3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28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38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25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304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99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,760 Coffee Shop Front Night Stock Photos - Free &amp; Royalty ...">
            <a:extLst>
              <a:ext uri="{FF2B5EF4-FFF2-40B4-BE49-F238E27FC236}">
                <a16:creationId xmlns:a16="http://schemas.microsoft.com/office/drawing/2014/main" id="{228EA56A-0C6E-E984-665E-2A5C8FFCD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 r="-1" b="14993"/>
          <a:stretch>
            <a:fillRect/>
          </a:stretch>
        </p:blipFill>
        <p:spPr bwMode="auto">
          <a:xfrm>
            <a:off x="20" y="10"/>
            <a:ext cx="1219167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A7A59-6AB1-858B-693A-ABFDC36B3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636" y="992221"/>
            <a:ext cx="6247308" cy="4873558"/>
          </a:xfrm>
        </p:spPr>
        <p:txBody>
          <a:bodyPr anchor="ctr">
            <a:normAutofit/>
          </a:bodyPr>
          <a:lstStyle/>
          <a:p>
            <a:r>
              <a:rPr lang="en-US" sz="4800" dirty="0"/>
              <a:t>BRIGHT COFFEE 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CBBFC-71E4-624A-6B03-C01A1151C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6" y="996610"/>
            <a:ext cx="3363901" cy="4864780"/>
          </a:xfrm>
        </p:spPr>
        <p:txBody>
          <a:bodyPr anchor="ctr">
            <a:normAutofit/>
          </a:bodyPr>
          <a:lstStyle/>
          <a:p>
            <a:pPr algn="r"/>
            <a:r>
              <a:rPr lang="en-US" sz="2000" dirty="0"/>
              <a:t>ANALYSIS FOR THE CEO</a:t>
            </a:r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BY </a:t>
            </a:r>
            <a:r>
              <a:rPr lang="en-US" sz="2000" dirty="0" err="1"/>
              <a:t>Thumeka</a:t>
            </a:r>
            <a:r>
              <a:rPr lang="en-US" sz="2000" dirty="0"/>
              <a:t> </a:t>
            </a:r>
            <a:r>
              <a:rPr lang="en-US" sz="2000" dirty="0" err="1"/>
              <a:t>Nxusani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7233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1909-D319-1117-A84C-B2FECE075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F0FD-FBCB-4E4D-4237-0A981590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Analysis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Questions &amp; Answers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5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24B0-80A7-362E-5B15-9958082E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 have been provided with a dataset titled “Bright Coffee Shop Sales”, which captures daily transactional information from a coffee shop. </a:t>
            </a:r>
          </a:p>
          <a:p>
            <a:r>
              <a:rPr lang="en-ZA" dirty="0"/>
              <a:t>The business has recently appointed a new CEO whose mission is to grow the company’s revenue and improve product performance. </a:t>
            </a:r>
          </a:p>
          <a:p>
            <a:r>
              <a:rPr lang="en-ZA" dirty="0"/>
              <a:t>My role, as a Junior Data Analyst, is to extract actionable insights from historical data and prepare a presentation to assist the CEO in decision-making</a:t>
            </a:r>
            <a:r>
              <a:rPr lang="en-ZA" sz="1800" dirty="0">
                <a:effectLst/>
                <a:latin typeface="Calibri" panose="020F0502020204030204" pitchFamily="34" charset="0"/>
              </a:rPr>
              <a:t>. </a:t>
            </a:r>
            <a:endParaRPr lang="en-ZA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ECD35-6930-E8DF-8A6C-D75A718E15C2}"/>
              </a:ext>
            </a:extLst>
          </p:cNvPr>
          <p:cNvSpPr txBox="1"/>
          <p:nvPr/>
        </p:nvSpPr>
        <p:spPr>
          <a:xfrm>
            <a:off x="1383277" y="381089"/>
            <a:ext cx="5172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4235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461E3-2A37-C7BA-1ACD-66021F0DC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1300" dirty="0" err="1"/>
              <a:t>iNSIGHTS</a:t>
            </a:r>
            <a:r>
              <a:rPr lang="en-US" sz="1300" dirty="0"/>
              <a:t>:</a:t>
            </a:r>
            <a:br>
              <a:rPr lang="en-US" sz="1300" dirty="0"/>
            </a:br>
            <a:br>
              <a:rPr lang="en-US" sz="1300" dirty="0"/>
            </a:br>
            <a:r>
              <a:rPr lang="en-US" sz="1300" dirty="0"/>
              <a:t>- there is general upward movement.</a:t>
            </a:r>
            <a:br>
              <a:rPr lang="en-US" sz="1300" dirty="0"/>
            </a:br>
            <a:r>
              <a:rPr lang="en-US" sz="1300" dirty="0"/>
              <a:t>- May &amp; JUNE SHOWING THE HIGHEST performance.</a:t>
            </a:r>
            <a:br>
              <a:rPr lang="en-US" sz="1300" dirty="0"/>
            </a:br>
            <a:r>
              <a:rPr lang="en-US" sz="1300" dirty="0"/>
              <a:t>- Consider increasing inventory &amp; marketing around the </a:t>
            </a:r>
            <a:r>
              <a:rPr lang="en-US" sz="1300" dirty="0" err="1"/>
              <a:t>seconD</a:t>
            </a:r>
            <a:r>
              <a:rPr lang="en-US" sz="1300" dirty="0"/>
              <a:t> quarter of the year.</a:t>
            </a:r>
            <a:br>
              <a:rPr lang="en-US" sz="1300" dirty="0"/>
            </a:br>
            <a:r>
              <a:rPr lang="en-US" sz="1300" dirty="0"/>
              <a:t>- ASTORIA &amp; HELLS’S KITCHEN ARE THE TOP-PERFORMING STORES.</a:t>
            </a:r>
            <a:br>
              <a:rPr lang="en-US" sz="1300" dirty="0"/>
            </a:br>
            <a:br>
              <a:rPr lang="en-US" sz="1300" dirty="0"/>
            </a:br>
            <a:endParaRPr lang="en-US" sz="13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39BCA8D-FEA9-FDB3-5ABF-3A21074FEB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66033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E0C3FDE-72E3-E244-90A9-75A65FB61728}"/>
              </a:ext>
            </a:extLst>
          </p:cNvPr>
          <p:cNvSpPr txBox="1"/>
          <p:nvPr/>
        </p:nvSpPr>
        <p:spPr>
          <a:xfrm>
            <a:off x="501587" y="171025"/>
            <a:ext cx="517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ANALYSIS | STORE LOCATION</a:t>
            </a:r>
          </a:p>
        </p:txBody>
      </p:sp>
    </p:spTree>
    <p:extLst>
      <p:ext uri="{BB962C8B-B14F-4D97-AF65-F5344CB8AC3E}">
        <p14:creationId xmlns:p14="http://schemas.microsoft.com/office/powerpoint/2010/main" val="38291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8B7A5-4E5B-BD19-9AF9-72C2E4D0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2310014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1400" dirty="0"/>
              <a:t>INSIGHT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- </a:t>
            </a:r>
            <a:r>
              <a:rPr lang="en-ZA" sz="1400" dirty="0"/>
              <a:t>Revenue is highly volatile day-to-day across all stores.</a:t>
            </a:r>
            <a:br>
              <a:rPr lang="en-ZA" sz="1400" dirty="0"/>
            </a:br>
            <a:r>
              <a:rPr lang="en-ZA" sz="1400" dirty="0"/>
              <a:t>- ASTORIA Shows moderate performance with some spikes.</a:t>
            </a:r>
            <a:br>
              <a:rPr lang="en-ZA" sz="1400" dirty="0"/>
            </a:br>
            <a:r>
              <a:rPr lang="en-ZA" sz="1400" dirty="0"/>
              <a:t>- HELL’S KITCHEN – MOST VOLATILE STORE WITH THE HIGHEST REVENUE POTENTIAL</a:t>
            </a:r>
            <a:br>
              <a:rPr lang="en-ZA" sz="1400" dirty="0"/>
            </a:br>
            <a:r>
              <a:rPr lang="en-ZA" sz="1400" dirty="0"/>
              <a:t>- LOWER MANHATTAN – MOST STABLE UPWARD TREND, CONSISTENT PERFORMER.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410F05-3A4A-3124-43BB-6717FA153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26579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7FAAC2-B9D3-F373-76EB-3F056F7F8BBF}"/>
              </a:ext>
            </a:extLst>
          </p:cNvPr>
          <p:cNvSpPr txBox="1"/>
          <p:nvPr/>
        </p:nvSpPr>
        <p:spPr>
          <a:xfrm>
            <a:off x="501587" y="171025"/>
            <a:ext cx="517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ANALYSIS | STORE LOCATION |DAILY</a:t>
            </a:r>
          </a:p>
        </p:txBody>
      </p:sp>
    </p:spTree>
    <p:extLst>
      <p:ext uri="{BB962C8B-B14F-4D97-AF65-F5344CB8AC3E}">
        <p14:creationId xmlns:p14="http://schemas.microsoft.com/office/powerpoint/2010/main" val="84070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C801E-2E97-E000-A392-989C3895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1400" dirty="0"/>
              <a:t>INSIGHTS: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- </a:t>
            </a:r>
            <a:r>
              <a:rPr lang="en-ZA" sz="1400" dirty="0"/>
              <a:t>Business is over-dependent on morning traffic </a:t>
            </a:r>
            <a:br>
              <a:rPr lang="en-ZA" sz="1400" dirty="0"/>
            </a:br>
            <a:r>
              <a:rPr lang="en-ZA" sz="1400" dirty="0"/>
              <a:t>- Risky if morning demand drops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8DD893-5AB1-3E8D-6A40-749CF1D669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780118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DFE4F6-EA39-9722-73F4-9C25C0CAEEA0}"/>
              </a:ext>
            </a:extLst>
          </p:cNvPr>
          <p:cNvSpPr txBox="1"/>
          <p:nvPr/>
        </p:nvSpPr>
        <p:spPr>
          <a:xfrm>
            <a:off x="501587" y="171025"/>
            <a:ext cx="559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ANALYSIS | STORE LOCATION | TIME OF DAY</a:t>
            </a:r>
          </a:p>
        </p:txBody>
      </p:sp>
    </p:spTree>
    <p:extLst>
      <p:ext uri="{BB962C8B-B14F-4D97-AF65-F5344CB8AC3E}">
        <p14:creationId xmlns:p14="http://schemas.microsoft.com/office/powerpoint/2010/main" val="524079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A40CA-CA7F-89F1-2FAB-0C0E46776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1400" dirty="0"/>
              <a:t>Insights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- </a:t>
            </a:r>
            <a:r>
              <a:rPr lang="en-ZA" sz="1400" dirty="0"/>
              <a:t>The morning accounts for 55.56% of total revenue, which is more than half.</a:t>
            </a:r>
            <a:br>
              <a:rPr lang="en-ZA" sz="1400" dirty="0"/>
            </a:br>
            <a:r>
              <a:rPr lang="en-ZA" sz="1400" dirty="0"/>
              <a:t>- The afternoon brings in 29.30%, a solid secondary block.</a:t>
            </a:r>
            <a:br>
              <a:rPr lang="en-ZA" sz="1400" dirty="0"/>
            </a:br>
            <a:r>
              <a:rPr lang="en-ZA" sz="1400" dirty="0"/>
              <a:t>- The evening only contributes 15.14%, the smallest share.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672378-9E55-357F-E160-6B820BE1F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518533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E820D6-92C6-89FA-439B-5EDC91564854}"/>
              </a:ext>
            </a:extLst>
          </p:cNvPr>
          <p:cNvSpPr txBox="1"/>
          <p:nvPr/>
        </p:nvSpPr>
        <p:spPr>
          <a:xfrm>
            <a:off x="501587" y="171025"/>
            <a:ext cx="55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ANALYSIS | TIME OF DAY</a:t>
            </a:r>
          </a:p>
        </p:txBody>
      </p:sp>
    </p:spTree>
    <p:extLst>
      <p:ext uri="{BB962C8B-B14F-4D97-AF65-F5344CB8AC3E}">
        <p14:creationId xmlns:p14="http://schemas.microsoft.com/office/powerpoint/2010/main" val="24842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F96F9-03ED-AF1A-E4AE-19F74442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 fontScale="90000"/>
          </a:bodyPr>
          <a:lstStyle/>
          <a:p>
            <a:r>
              <a:rPr lang="en-US" sz="1400" dirty="0"/>
              <a:t>Insights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- </a:t>
            </a:r>
            <a:r>
              <a:rPr lang="en-ZA" sz="1400" dirty="0"/>
              <a:t>Bakery revenue surged from around R30,000 in January to nearly R70,000 by June.</a:t>
            </a:r>
            <a:br>
              <a:rPr lang="en-ZA" sz="1400" dirty="0"/>
            </a:br>
            <a:r>
              <a:rPr lang="en-ZA" sz="1400" dirty="0"/>
              <a:t>- Products like Coffee, Loose Tea, Tea, and Coffee Beans show stable but low revenue, mostly under R20,000.</a:t>
            </a:r>
            <a:br>
              <a:rPr lang="en-ZA" sz="1400" dirty="0"/>
            </a:br>
            <a:r>
              <a:rPr lang="en-ZA" sz="1400" dirty="0"/>
              <a:t>- packaged choc, drinking choc &amp; flavours remain flat and low, suggesting limited market traction or seasonal relevance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288916-3B06-DBA7-7DAC-7670947FE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987469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3C6141-44FA-6AB7-BAA2-E02E1A49D607}"/>
              </a:ext>
            </a:extLst>
          </p:cNvPr>
          <p:cNvSpPr txBox="1"/>
          <p:nvPr/>
        </p:nvSpPr>
        <p:spPr>
          <a:xfrm>
            <a:off x="501587" y="171025"/>
            <a:ext cx="55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ANALYSIS | PRODUCT | MONTHLY</a:t>
            </a:r>
          </a:p>
        </p:txBody>
      </p:sp>
    </p:spTree>
    <p:extLst>
      <p:ext uri="{BB962C8B-B14F-4D97-AF65-F5344CB8AC3E}">
        <p14:creationId xmlns:p14="http://schemas.microsoft.com/office/powerpoint/2010/main" val="37997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DBCA0-4957-449C-1C57-D0F10E59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1400" dirty="0"/>
              <a:t>INSIGHTS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- </a:t>
            </a:r>
            <a:r>
              <a:rPr lang="en-ZA" sz="1400" dirty="0"/>
              <a:t>Bakery dominates mornings, pulling in the highest revenue.</a:t>
            </a:r>
            <a:br>
              <a:rPr lang="en-ZA" sz="1400" dirty="0"/>
            </a:br>
            <a:r>
              <a:rPr lang="en-ZA" sz="1400" dirty="0"/>
              <a:t>- Loose Tea takes the lead in the afternoon, overtaking Bakery.</a:t>
            </a:r>
            <a:br>
              <a:rPr lang="en-ZA" sz="1400" dirty="0"/>
            </a:br>
            <a:r>
              <a:rPr lang="en-ZA" sz="1400" dirty="0"/>
              <a:t>- Bakery and Branded trail off significantly, showing reduced demand later in the day.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1EFF01-A6F7-FDEB-E665-3A81B71D60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17032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5D1FAC-EDF0-2CAB-4AAB-B0B36AA7A957}"/>
              </a:ext>
            </a:extLst>
          </p:cNvPr>
          <p:cNvSpPr txBox="1"/>
          <p:nvPr/>
        </p:nvSpPr>
        <p:spPr>
          <a:xfrm>
            <a:off x="501587" y="171025"/>
            <a:ext cx="55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ANALYSIS | PRODUCT | TIME OF DAY</a:t>
            </a:r>
          </a:p>
        </p:txBody>
      </p:sp>
    </p:spTree>
    <p:extLst>
      <p:ext uri="{BB962C8B-B14F-4D97-AF65-F5344CB8AC3E}">
        <p14:creationId xmlns:p14="http://schemas.microsoft.com/office/powerpoint/2010/main" val="227363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96A42-A900-99F8-F550-73C4C1AB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41157"/>
            <a:ext cx="9603275" cy="3964938"/>
          </a:xfrm>
        </p:spPr>
        <p:txBody>
          <a:bodyPr>
            <a:normAutofit/>
          </a:bodyPr>
          <a:lstStyle/>
          <a:p>
            <a:r>
              <a:rPr lang="en-ZA" sz="1400" dirty="0"/>
              <a:t>Reduce Over-Reliance on Morning Sales by introducing an all day menu which will appeal to customers.</a:t>
            </a:r>
          </a:p>
          <a:p>
            <a:r>
              <a:rPr lang="en-ZA" sz="1400" dirty="0"/>
              <a:t>Grow Afternoon Revenue (Biggest Opportunity) by introducing lunch combos and afternoon discounts.</a:t>
            </a:r>
          </a:p>
          <a:p>
            <a:r>
              <a:rPr lang="en-ZA" sz="1400" dirty="0"/>
              <a:t>Fix Weak Evening Performance by introducing dessert, snacks &amp; light meals – introduce happy hour specials.</a:t>
            </a:r>
          </a:p>
          <a:p>
            <a:r>
              <a:rPr lang="en-ZA" sz="1400" dirty="0"/>
              <a:t>Customise Strategies per store – Replicate the strategy of Manhattans across all stores as they are the high revenue performers.</a:t>
            </a:r>
          </a:p>
          <a:p>
            <a:r>
              <a:rPr lang="en-ZA" sz="1400" dirty="0"/>
              <a:t>Fix inventory planning for Hell’s Kitchen.</a:t>
            </a:r>
          </a:p>
          <a:p>
            <a:r>
              <a:rPr lang="en-ZA" sz="1400" dirty="0"/>
              <a:t>Increase foot traffic for Astoria in the mornings through promotions and marketing.</a:t>
            </a:r>
          </a:p>
          <a:p>
            <a:r>
              <a:rPr lang="en-ZA" sz="1400" dirty="0"/>
              <a:t>Time-of-Day Strategy - Bakery is the clear driver. Lean into this by offering breakfast bundles (Bakery + Coffee/Tea) and loyalty deals for early shoppers. </a:t>
            </a:r>
          </a:p>
          <a:p>
            <a:r>
              <a:rPr lang="en-ZA" sz="1400" dirty="0"/>
              <a:t>Product Portfolio Focus - Your growth engine. Expand offerings, experiment with seasonal items, and use Bakery as the anchor for cross-selling other products.</a:t>
            </a:r>
          </a:p>
          <a:p>
            <a:endParaRPr lang="en-ZA" sz="1400" dirty="0"/>
          </a:p>
          <a:p>
            <a:endParaRPr lang="en-ZA" sz="1400" dirty="0"/>
          </a:p>
          <a:p>
            <a:endParaRPr lang="en-ZA" sz="1400" dirty="0"/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549B5-2585-FD75-AF59-BAC4F6A41063}"/>
              </a:ext>
            </a:extLst>
          </p:cNvPr>
          <p:cNvSpPr txBox="1"/>
          <p:nvPr/>
        </p:nvSpPr>
        <p:spPr>
          <a:xfrm>
            <a:off x="1451579" y="677652"/>
            <a:ext cx="559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75913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6C9E-6BDD-3DEB-6BF7-E21D4517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241888285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371</TotalTime>
  <Words>588</Words>
  <Application>Microsoft Macintosh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Gallery</vt:lpstr>
      <vt:lpstr>BRIGHT COFFEE SHOP</vt:lpstr>
      <vt:lpstr>CONTENT</vt:lpstr>
      <vt:lpstr>PowerPoint Presentation</vt:lpstr>
      <vt:lpstr>iNSIGHTS:  - there is general upward movement. - May &amp; JUNE SHOWING THE HIGHEST performance. - Consider increasing inventory &amp; marketing around the seconD quarter of the year. - ASTORIA &amp; HELLS’S KITCHEN ARE THE TOP-PERFORMING STORES.  </vt:lpstr>
      <vt:lpstr>INSIGHT  - Revenue is highly volatile day-to-day across all stores. - ASTORIA Shows moderate performance with some spikes. - HELL’S KITCHEN – MOST VOLATILE STORE WITH THE HIGHEST REVENUE POTENTIAL - LOWER MANHATTAN – MOST STABLE UPWARD TREND, CONSISTENT PERFORMER.</vt:lpstr>
      <vt:lpstr>INSIGHTS:  - Business is over-dependent on morning traffic  - Risky if morning demand drops</vt:lpstr>
      <vt:lpstr>Insights  - The morning accounts for 55.56% of total revenue, which is more than half. - The afternoon brings in 29.30%, a solid secondary block. - The evening only contributes 15.14%, the smallest share.</vt:lpstr>
      <vt:lpstr>Insights  - Bakery revenue surged from around R30,000 in January to nearly R70,000 by June. - Products like Coffee, Loose Tea, Tea, and Coffee Beans show stable but low revenue, mostly under R20,000. - packaged choc, drinking choc &amp; flavours remain flat and low, suggesting limited market traction or seasonal relevance</vt:lpstr>
      <vt:lpstr>INSIGHTS  - Bakery dominates mornings, pulling in the highest revenue. - Loose Tea takes the lead in the afternoon, overtaking Bakery. - Bakery and Branded trail off significantly, showing reduced demand later in the day.</vt:lpstr>
      <vt:lpstr>PowerPoint Presentation</vt:lpstr>
      <vt:lpstr>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avduser1</dc:creator>
  <cp:lastModifiedBy>avduser1</cp:lastModifiedBy>
  <cp:revision>1</cp:revision>
  <dcterms:created xsi:type="dcterms:W3CDTF">2026-03-31T14:10:28Z</dcterms:created>
  <dcterms:modified xsi:type="dcterms:W3CDTF">2026-03-31T20:22:04Z</dcterms:modified>
</cp:coreProperties>
</file>